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8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67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731520"/>
            <a:ext cx="2286000" cy="22860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⚠️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Vector RAG Fails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Real-World Failures with Examples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 — Reasoning-Based RAG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Ways Vector RAG Breaks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Query-Knowledge Mismatch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similar words, not actual answers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097280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07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1572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Specificity Fails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similar-looking chunks, wrong one wins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09728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1097280"/>
            <a:ext cx="64008" cy="1554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207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89320" y="1572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In-Document References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signposts but never follows them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37360" y="292608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737360" y="2926080"/>
            <a:ext cx="64008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4520" y="30358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74520" y="3401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Scores, Wrong Answers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7452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but partially correct = still wrong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292608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2926080"/>
            <a:ext cx="64008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0358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17720" y="3401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Chunking Breaks Context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cuts fragment sentences and meaning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Query-Knowledge Mismatch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"Who invented Python?"   |   Expected: Guido van Rossum, 1991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536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5361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Found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1536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8229600" cy="347472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1938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1938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"Python is popular for AI and ML."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only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347472"/>
          </a:xfrm>
          <a:prstGeom prst="rect">
            <a:avLst/>
          </a:prstGeom>
          <a:solidFill>
            <a:srgbClr val="162038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22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3225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3225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"Python supports multiple paradigms."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2322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only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70048"/>
            <a:ext cx="8229600" cy="347472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06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27066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27066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"Python is used in data science."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2706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only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054096"/>
            <a:ext cx="8229600" cy="347472"/>
          </a:xfrm>
          <a:prstGeom prst="rect">
            <a:avLst/>
          </a:prstGeom>
          <a:solidFill>
            <a:srgbClr val="162038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090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3090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0" y="30906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"Python 3 released in 2008."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438144"/>
            <a:ext cx="8229600" cy="347472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474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1560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3474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"Python competes with R and Julia."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0F2D0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9136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 ANSWER (Rank 12, Score: 0.71)  —  "Python was created by Guido van Rossum and first released in 1991."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553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top-5 results are about Python — none answer WHO invented it. Correct answer buried at Rank 12.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Specificity Fails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"What is the termination notice period?"   |   Expected: 30 days written notice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536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5361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Found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1536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01952"/>
            <a:ext cx="8229600" cy="347472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1938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1938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agreement may be terminated in case of material breach."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clause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347472"/>
          </a:xfrm>
          <a:prstGeom prst="rect">
            <a:avLst/>
          </a:prstGeom>
          <a:solidFill>
            <a:srgbClr val="162038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22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3225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3225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"Termination clauses define conditions under which contracts end."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2322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70048"/>
            <a:ext cx="8229600" cy="347472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06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27066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27066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"Both parties agree to comply with all contractual obligations."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2706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054096"/>
            <a:ext cx="8229600" cy="347472"/>
          </a:xfrm>
          <a:prstGeom prst="rect">
            <a:avLst/>
          </a:prstGeom>
          <a:solidFill>
            <a:srgbClr val="162038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090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3090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0" y="30906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"Termination may occur if either party violates the agreement."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438144"/>
            <a:ext cx="8229600" cy="347472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474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1560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3474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agreement governs the relationship between the parties."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0F2D0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9136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 ANSWER (Rank 8, Score: 0.79)  —  "Either party may terminate this agreement by providing 30 days written notice."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553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chunks mention 'termination' — none include the 30-day notice. Correct clause outside top-K window.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In-Document 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"How do I reset the admin password?"   |   Expected: reset_admin --force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50292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Retrieves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5029200" cy="347472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38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938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938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"Password policies ensure secure authentication."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5029200" cy="347472"/>
          </a:xfrm>
          <a:prstGeom prst="rect">
            <a:avLst/>
          </a:prstGeom>
          <a:solidFill>
            <a:srgbClr val="162038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322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2322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"Admins can manage user accounts and passwords."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70048"/>
            <a:ext cx="5029200" cy="347472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06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7066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27066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"Password expiration rules are configurable."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54096"/>
            <a:ext cx="5029200" cy="347472"/>
          </a:xfrm>
          <a:prstGeom prst="rect">
            <a:avLst/>
          </a:prstGeom>
          <a:solidFill>
            <a:srgbClr val="162038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90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090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"Security best practices recommend strong passwords."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38144"/>
            <a:ext cx="5029200" cy="347472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474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1732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password config refer to section 8.2." ⚠️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1508760"/>
            <a:ext cx="3108960" cy="347472"/>
          </a:xfrm>
          <a:prstGeom prst="rect">
            <a:avLst/>
          </a:prstGeom>
          <a:solidFill>
            <a:srgbClr val="1620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536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Multi-Hop Chain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0" y="1965960"/>
            <a:ext cx="3108960" cy="548640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7220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about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password reset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9440" y="2532888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669280" y="2679192"/>
            <a:ext cx="3108960" cy="548640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👁️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72200" y="27249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sees: refer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8.2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324612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669280" y="3392424"/>
            <a:ext cx="3108960" cy="548640"/>
          </a:xfrm>
          <a:prstGeom prst="rect">
            <a:avLst/>
          </a:prstGeom>
          <a:solidFill>
            <a:srgbClr val="1E2D4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🚫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72200" y="34381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STOPS here.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goes to 8.2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49440" y="3959352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669280" y="4105656"/>
            <a:ext cx="3108960" cy="548640"/>
          </a:xfrm>
          <a:prstGeom prst="rect">
            <a:avLst/>
          </a:prstGeom>
          <a:solidFill>
            <a:srgbClr val="1E2D4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172200" y="415137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8.2 has: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reset_admin --force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Scores, Wrong Answers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"What was total company revenue for FY2023?"   |   200-page SEC 10-K filing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536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5361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15361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5361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01952"/>
            <a:ext cx="8229600" cy="347472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38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45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938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product sales: $4.2B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938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1938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only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8229600" cy="347472"/>
          </a:xfrm>
          <a:prstGeom prst="rect">
            <a:avLst/>
          </a:prstGeom>
          <a:solidFill>
            <a:srgbClr val="162038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225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67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2322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services: $1.8B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3225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23225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3225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only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670048"/>
            <a:ext cx="8229600" cy="347472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706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89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2706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recognition policy (ASC 606)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2706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27066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no number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054096"/>
            <a:ext cx="8229600" cy="347472"/>
          </a:xfrm>
          <a:prstGeom prst="rect">
            <a:avLst/>
          </a:prstGeom>
          <a:solidFill>
            <a:srgbClr val="0D2D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0906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112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7160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consolidated revenue: $6.1B 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3090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0" y="30906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answer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438144"/>
            <a:ext cx="8229600" cy="347472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74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134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7160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revenue growth driven by enterprise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3474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0" y="3474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only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858768"/>
            <a:ext cx="8229600" cy="502920"/>
          </a:xfrm>
          <a:prstGeom prst="rect">
            <a:avLst/>
          </a:prstGeom>
          <a:solidFill>
            <a:srgbClr val="2D1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39319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If top-3 retrieval is used, user gets $4.2B as the answer — confidently WRONG! Correct answer ($6.1B) ranks 4th.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Chunking Breaks Context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split at fixed sizes (e.g. 512 tokens) — often mid-sentence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solidFill>
            <a:srgbClr val="0A2D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361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ORIGINAL TEXT (makes complete sense)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1E2D4E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"Applicants with a credit score above 750 who earn more than $50,000 annually are eligible for a premium loan of up to $500,000 with 3.5% interest rate."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8229600" cy="320040"/>
          </a:xfrm>
          <a:prstGeom prst="rect">
            <a:avLst/>
          </a:prstGeom>
          <a:solidFill>
            <a:srgbClr val="2D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146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AFTER HARD CHUNKING (cut at 512 tokens — meaning broken!)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931920" cy="914400"/>
          </a:xfrm>
          <a:prstGeom prst="rect">
            <a:avLst/>
          </a:prstGeom>
          <a:solidFill>
            <a:srgbClr val="1E2D4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"Applicants with a credit score above 750 who earn more than $50,000 annually are eligible for a premium loan of..."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4340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931920" cy="914400"/>
          </a:xfrm>
          <a:prstGeom prst="rect">
            <a:avLst/>
          </a:prstGeom>
          <a:solidFill>
            <a:srgbClr val="1E2D4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"...up to $500,000 with 3.5% interest rate. Applications must be submitted before the 15th of each month."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913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Chunk A: has eligibility but NO amount   |   ❌ Chunk B: has amount but NO eligibility   |   Neither chunk answers the question alone!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15968"/>
            <a:ext cx="8229600" cy="502920"/>
          </a:xfrm>
          <a:prstGeom prst="rect">
            <a:avLst/>
          </a:prstGeom>
          <a:solidFill>
            <a:srgbClr val="0F1729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3708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🍼  Like tearing a birthday card in half — "Happy Birthday..." / "...love, Grandma!" — neither half makes sense alone!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PageIndex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grabbing similar-sounding pieces — reason and navigate like a human 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011680" cy="438912"/>
          </a:xfrm>
          <a:prstGeom prst="rect">
            <a:avLst/>
          </a:prstGeom>
          <a:solidFill>
            <a:srgbClr val="1A23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325880"/>
            <a:ext cx="3017520" cy="438912"/>
          </a:xfrm>
          <a:prstGeom prst="rect">
            <a:avLst/>
          </a:prstGeom>
          <a:solidFill>
            <a:srgbClr val="1A23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37160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325880"/>
            <a:ext cx="3017520" cy="438912"/>
          </a:xfrm>
          <a:prstGeom prst="rect">
            <a:avLst/>
          </a:prstGeom>
          <a:solidFill>
            <a:srgbClr val="1A234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37160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 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20116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470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mismatch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801368"/>
            <a:ext cx="30175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84708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similar words, misses intent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801368"/>
            <a:ext cx="30175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84708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about what answer should look like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7685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2257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specificity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2276856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32257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distinguish near-identical chunks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276856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32257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document structure and 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52344"/>
            <a:ext cx="20116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79806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references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2752344"/>
            <a:ext cx="30175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279806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signpost, ignores 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2752344"/>
            <a:ext cx="30175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79806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cross-references automatically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227832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2735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score, wrong answer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3227832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2735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result = final answer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3227832"/>
            <a:ext cx="3017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2735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completeness before returning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703320"/>
            <a:ext cx="20116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7490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context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68880" y="3703320"/>
            <a:ext cx="30175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37490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fixed-size cuts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0" y="3703320"/>
            <a:ext cx="30175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7490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semantic boundaries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6400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🧠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searching.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reasoning.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3246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 replaces static embeddings with dynamic, human-like document navigation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3474720" cy="320040"/>
          </a:xfrm>
          <a:prstGeom prst="roundRect">
            <a:avLst>
              <a:gd name="adj" fmla="val 28571"/>
            </a:avLst>
          </a:prstGeom>
          <a:solidFill>
            <a:srgbClr val="1E2D4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01421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Follows References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3977640"/>
            <a:ext cx="3474720" cy="320040"/>
          </a:xfrm>
          <a:prstGeom prst="roundRect">
            <a:avLst>
              <a:gd name="adj" fmla="val 28571"/>
            </a:avLst>
          </a:prstGeom>
          <a:solidFill>
            <a:srgbClr val="1E2D4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401421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Reasons over 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3474720" cy="320040"/>
          </a:xfrm>
          <a:prstGeom prst="roundRect">
            <a:avLst>
              <a:gd name="adj" fmla="val 28571"/>
            </a:avLst>
          </a:prstGeom>
          <a:solidFill>
            <a:srgbClr val="1E2D4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47141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Vector DB Needed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4434840"/>
            <a:ext cx="3474720" cy="320040"/>
          </a:xfrm>
          <a:prstGeom prst="roundRect">
            <a:avLst>
              <a:gd name="adj" fmla="val 28571"/>
            </a:avLst>
          </a:prstGeom>
          <a:solidFill>
            <a:srgbClr val="1E2D4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447141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Multi-Hop Retrieval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888</Words>
  <Application>Microsoft Office PowerPoint</Application>
  <PresentationFormat>On-screen Show (16:9)</PresentationFormat>
  <Paragraphs>197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Vector RAG Fails</dc:title>
  <dc:subject>PptxGenJS Presentation</dc:subject>
  <dc:creator>PptxGenJS</dc:creator>
  <cp:lastModifiedBy>Jolly Gupta</cp:lastModifiedBy>
  <cp:revision>1</cp:revision>
  <dcterms:created xsi:type="dcterms:W3CDTF">2026-03-16T09:49:17Z</dcterms:created>
  <dcterms:modified xsi:type="dcterms:W3CDTF">2026-03-16T09:56:32Z</dcterms:modified>
</cp:coreProperties>
</file>