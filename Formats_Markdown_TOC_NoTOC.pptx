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05A  ·  TREE GENERATION DEEP-DIVE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1: Markdown Documents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case — headings are already structured with # symbols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Raw Markdown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6052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41605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62763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6276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62763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6184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paper.md — raw markdown file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" y="1901952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DeepSeek-R1 Paper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" y="2057400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" y="221284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Introduction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36829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advances in LLMs...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" y="2523744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" y="2679192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1.1 Contributions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" y="2834640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introduce two models...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" y="299008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" y="314553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1.2 Evaluation Results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300984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DeepSeek-R1 matches o1...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" y="3456432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" y="3611880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Approach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" y="376732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" y="3922776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2.1 Overview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" y="4078224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use GRPO training...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" y="4233672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" y="4389120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5. Conclusion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" y="454456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DeepSeek-R1 achieves...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02920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JSON Tree Output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1572768"/>
            <a:ext cx="3749040" cy="34015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1572768"/>
            <a:ext cx="37490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57216" y="162763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76672" y="16276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96128" y="162763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16184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Tree — built automatically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57216" y="190195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"title": "DeepSeek-R1 Paper",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57216" y="205740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"node_id": "0000",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57216" y="221284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"nodes": [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57216" y="236829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"title": "1. Introduction",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57216" y="252374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"node_id": "0003",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57216" y="267919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"start_index": 1,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57216" y="283464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"end_index": 3,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57216" y="299008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"summary": "Introduces..",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57216" y="314553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"nodes": [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57216" y="330098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"title": "1.1 Contributions",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57216" y="345643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"node_id": "0004",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57216" y="361188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"start_index": 1,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57216" y="376732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"end_index": 2 }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57216" y="392277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"title": "1.2 Eval Results",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57216" y="407822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"node_id": "0005" }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57216" y="423367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57216" y="438912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57216" y="454456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"title": "5. Conclusion",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57216" y="470001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"node_id": "0019" }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57216" y="485546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57216" y="501091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65760" y="5065776"/>
            <a:ext cx="8412480" cy="0"/>
          </a:xfrm>
          <a:prstGeom prst="rect">
            <a:avLst/>
          </a:prstGeom>
          <a:noFill/>
          <a:ln/>
        </p:spPr>
      </p:sp>
      <p:sp>
        <p:nvSpPr>
          <p:cNvPr id="61" name="Shape 59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How: PageIndex reads # → ##  → ### symbols. Each level = one tree depth. No LLM needed for structure detection!  •  Cost: 0–2 LLM calls  •  Speed: Fastest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05B  ·  TREE GENERATION DEEP-DIVE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2: PDF with Table of 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case — annual reports, textbooks, research papers with a ToC page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Real Example: Federal Reserve 2023 Annual Report — 100-page PDF with ToC on pages 3–4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the ToC Page Looks Like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65176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03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Stability ......... 21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 Vulnerabilities  22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Intl Cooperation .......... 28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Monetary Policy ............. 35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Tools .............. 36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 Decisions ............ 42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913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G .................. 156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Statistical Tables ........ 158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0" y="1719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Steps PageIndex Takes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20848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0665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ToC pages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22494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pages 3-4 contain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of contents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2542032"/>
            <a:ext cx="265176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2615184"/>
            <a:ext cx="310896" cy="310896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25968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section titles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section names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page numbers from ToC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3072384"/>
            <a:ext cx="265176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3552" y="31455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3127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hierarchy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33101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levels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 structure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602736"/>
            <a:ext cx="265176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73552" y="367588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3657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node_ids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0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0006=Financial Stability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0007=Monitoring (p.22-28)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133088"/>
            <a:ext cx="265176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73552" y="420624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summaries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0" y="43708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LLM call per node: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short description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3504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JSON Tree Output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2011680"/>
            <a:ext cx="2743200" cy="27249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11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2011680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066544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82512" y="206654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01968" y="206654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Tree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63056" y="23408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"node_id": "0006",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63056" y="249631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"Financial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63056" y="265176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Stability",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63056" y="280720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"start_index": 21,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63056" y="296265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"end_index": 22,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63056" y="311810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"The Fed...",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63056" y="327355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"nodes": [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63056" y="342900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"node_id": "0007",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63056" y="358444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"Monitoring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63056" y="37398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Vulnerabilities",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63056" y="389534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"start": 22,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63056" y="40507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"end": 28,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63056" y="420624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"summary":"Fed monitors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63056" y="436168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financial risks..." },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63056" y="451713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"node_id": "0008",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63056" y="467258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"Intl Coop.",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163056" y="48280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"start": 28, "end": 31}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163056" y="498348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163056" y="51389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Complete navigable tree.  Cost: 1–5 LLM calls (1 per node for summary).  Speed: Fast — structure already exists in ToC.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05C  ·  TREE GENERATION DEEP-DIVE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3: PDF Without Table of 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case — scanned reports, contracts, old PDFs with no structure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Real Example: A 50-page Legal Contract PDF — no ToC, no bookmarks, just raw pages of dense 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What PageIndex Sees (raw pages):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320040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57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Agreement is entered into as of January 1, 2024 by and between Party A and Party B...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320040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PAYMENT TERMS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payments shall be made within 30 days of invoice date...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20040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363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TERMINATION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may terminate by providing 30 days written notice...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648456"/>
            <a:ext cx="320040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75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CONFIDENTIALITY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information shared under this agreement shall remain...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320040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153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4379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PRICING SCHEDULE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fees are as follows: Basic Plan — $500/month...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How PageIndex Discovers Structure: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2029968"/>
            <a:ext cx="256032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22192" y="2112264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2084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page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0624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page 1 — detects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contract intro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2569464"/>
            <a:ext cx="256032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22192" y="265176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headings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2807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scans each page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X: TITLE pattern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49040" y="3108960"/>
            <a:ext cx="256032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22192" y="319125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2192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3163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boundaries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06240" y="3346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 section starts,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previous node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49040" y="3648456"/>
            <a:ext cx="256032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22192" y="373075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219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06240" y="3703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Appendix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3886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'APPENDIX A' found on p.18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creates child node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49040" y="4187952"/>
            <a:ext cx="256032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22192" y="4270248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22192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06240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enrich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06240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summary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discovered section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Discovered Tree: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2029968"/>
            <a:ext cx="2331720" cy="27706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11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2029968"/>
            <a:ext cx="2331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20256" y="2084832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39712" y="20848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59168" y="208483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Discovered JSON Tree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20256" y="235915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"title": "Legal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620256" y="251460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Contract 2024",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20256" y="267004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"nodes": [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20256" y="282549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"title":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620256" y="298094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"2. Payment Terms",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620256" y="313639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"node_id": "0003",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20256" y="329184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3, "end": 7,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20256" y="344728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"summary":"30-day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620256" y="360273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payment terms..." },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620256" y="375818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"title":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620256" y="391363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"5. Termination",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620256" y="406908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"node_id": "0006",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620256" y="422452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8, "end": 11 },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620256" y="437997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"title":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620256" y="4535424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"Appendix A: Pricing",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620256" y="46908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"node_id": "0010",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620256" y="484632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18, "end": 22 }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620256" y="500176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620256" y="515721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Cost: 10–20 LLM calls (reads every page to detect structure).  Speed: Slowest.  But still works perfectly — same JSON output!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06A  ·  RETRIEVAL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 Trace: Step-by-Step With Cross-References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query on the Federal Reserve 2023 Annual Report — watch every single step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841248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asks: "What is the total value of deferred assets in the 2023 Federal Reserve report?"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2011680" cy="283464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47088"/>
            <a:ext cx="2011680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92024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633472"/>
            <a:ext cx="1828800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 Tree into 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3697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JSON tree (all 23 nodes with titles + summaries) is loaded into the LLM's context window.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~5,200 tokens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 would be: ~80,000 tokens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Saving: 93% fewer tokens!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3108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96312" y="1847088"/>
            <a:ext cx="2011680" cy="28346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6312" y="1847088"/>
            <a:ext cx="20116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19202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87752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 CALL #1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87752" y="2633472"/>
            <a:ext cx="18288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87752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Tree → Picks Nodes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87752" y="323697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sees ALL node summaries at once.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Thinking: "Deferred assets are financial items — likely in Financial Stability section or Appendix. Node 0041-0042 covers pages 75-82 about Reserve Bank finances."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{ "node_list": ["0041","0042"] 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3108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72584" y="1847088"/>
            <a:ext cx="2011680" cy="283464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1847088"/>
            <a:ext cx="20116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5544" y="19202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64024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CODE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64024" y="2633472"/>
            <a:ext cx="18288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64024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 Pages 75–82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64024" y="323697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needed — pure dictionary lookup: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node_map["0041"]["text"] → raw text p.75-79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node_map["0042"]["text"] → raw text p.80-82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Fetched: 2,100 tokens of actual PDF content.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FREE (no API call)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02552" y="3108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48856" y="1847088"/>
            <a:ext cx="2011680" cy="283464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48856" y="1847088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1816" y="19202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181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0296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STILL CALL #1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0296" y="2633472"/>
            <a:ext cx="182880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CALL #1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40296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Text → NOT Enough!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40296" y="323697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pages 75-82.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INCREASE in deferred assets, but NOT the total.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this sentence on page 77: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"Table 5.3 summarizes... Appendix G provides more detailed information…"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FOLLOW THIS REFERENCE!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06B  ·  RETRIEVAL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Multi-Hop: Following 'See Appendix G'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Vector RAG cannot do — PageIndex follows the reference automatically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8412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We stopped at: LLM found "Table 5.3 summarizes… Appendix G provides more detailed information…" on page 77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2011680" cy="301752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55648"/>
            <a:ext cx="20116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82880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CODE 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18288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60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Navigates to Appendix 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#1 identified the reference.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now searches the tree for "Appendix G":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node_map scan → finds node_id "0089"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"Appendix G: Statistical Tables"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156–178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fetches pages 156-178.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FREE — no LLM!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50008" y="32004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96312" y="1755648"/>
            <a:ext cx="2011680" cy="301752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6312" y="1755648"/>
            <a:ext cx="20116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182880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87752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STILL CALL #1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87752" y="2542032"/>
            <a:ext cx="182880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560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CALL #1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87752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Appendix 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87752" y="314553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Table 5.3 in Appendix 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EXACT data: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 deferred assets: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 billion (2023)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 billion (2022)"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Is this sufficient?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YES! Full total found!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32004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72584" y="1755648"/>
            <a:ext cx="2011680" cy="301752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1755648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5544" y="182880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64024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CODE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64024" y="2542032"/>
            <a:ext cx="18288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2560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64024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Fetched Text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64024" y="314553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merges all retrieved content: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 75-82 (context + increase)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 156-178 (Appendix G total)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context for answer: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 tokens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within LLM context.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FREE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02552" y="32004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48856" y="1755648"/>
            <a:ext cx="2011680" cy="301752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48856" y="1755648"/>
            <a:ext cx="2011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1816" y="182880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181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0296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LLM CALL #2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0296" y="2542032"/>
            <a:ext cx="18288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2560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#2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40296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Final Answer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40296" y="314553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total value of deferred assets in the 2023 Federal Reserve Annual Report is $6.2 billion, compared to $4.8 billion in 2022. This represents an increase of $1.4 billion.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5.3, Appendix G: Statistical Tables, page 156."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 LLM calls  •  4 code operations (free)  •  Multi-hop across 2 sections  •  Full citation  •  ~5 seconds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COMPARISON &amp; DECISION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vs PageIndex — Cost, Accuracy &amp; When to Use What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as your decision guide for every project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246888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216152"/>
            <a:ext cx="31089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261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Vector 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216152"/>
            <a:ext cx="28346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261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PageIndex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916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per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1645920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6916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cheap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~500–1,000 tokens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+ 1 LLM call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916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~5,000–8,000 tokens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LLM calls per query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246888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13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2267712"/>
            <a:ext cx="31089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3134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text,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answer: 40–60%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2267712"/>
            <a:ext cx="283464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3134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Reasoning-driven,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answer: &lt;5%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352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Cross-references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("see Appendix G")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2889504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293522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Fails completely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follows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references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889504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93522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perfectly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any reference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511296"/>
            <a:ext cx="246888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5701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Format support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3511296"/>
            <a:ext cx="31089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55701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 short,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documents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511296"/>
            <a:ext cx="283464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557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with ToC 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without ToC 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178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4133088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71800" y="4178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0.5–2 seconds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413308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17880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seconds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791456"/>
            <a:ext cx="8503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371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 RAG when: short docs, speed critical, no cross-references, high query volume.    Use PageIndex when: long docs, accuracy critical, cross-references exist, complex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07B  ·  DECISION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Real Use Case Examples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document type and accuracy needs to the right tool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Use Vector RAG When...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39319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1746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News articles / blog posts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0025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texts, no cross-references, speed matters most. Query: 'What happened in tech this week?'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450592"/>
            <a:ext cx="39319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505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Customer support FAQs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761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short answers. User asks: 'How do I reset my password?' — one chunk has the answer.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209544"/>
            <a:ext cx="39319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catalogue 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520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products, each with description. Semantic similarity works great here.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968496"/>
            <a:ext cx="39319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High-volume, speed-critical apps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4279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queries/minute. Cost per query must be &lt;$0.001. Accuracy 80% is acceptable.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216152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PageIndex When...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1691640"/>
            <a:ext cx="42062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1746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Annual reports / financial filings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36592" y="2002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pages. 'What is total deferred asset value?' — needs Appendix G cross-reference. Vector RAG fails.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450592"/>
            <a:ext cx="42062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25054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Legal contracts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6592" y="27614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is the termination notice period?' — answer on page 8, mentioned in page 1. Needs multi-hop.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209544"/>
            <a:ext cx="42062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3264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Research papers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3520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'Compare Method A vs B results' — data in Section 3, discussion in Section 5. Two nodes needed.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968496"/>
            <a:ext cx="420624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4023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Medical / technical manuals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42793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'Drug interaction for Patient X' — needs lab values (p.12) + drug table (Appendix C, p.88).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Simple Rule:  If your document has cross-references OR is longer than 30 pages OR requires multi-section answers → use PageIndex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PageIndex Deep Dive — Slides 05, 06, 07</dc:title>
  <dc:subject>PptxGenJS Presentation</dc:subject>
  <dc:creator>PptxGenJS</dc:creator>
  <cp:lastModifiedBy>PptxGenJS</cp:lastModifiedBy>
  <cp:revision>1</cp:revision>
  <dcterms:created xsi:type="dcterms:W3CDTF">2026-03-16T12:33:09Z</dcterms:created>
  <dcterms:modified xsi:type="dcterms:W3CDTF">2026-03-16T12:33:09Z</dcterms:modified>
</cp:coreProperties>
</file>